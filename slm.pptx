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8229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2315" y="953719"/>
            <a:ext cx="744322" cy="7443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14884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Language Models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30632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Pipelines with SLMs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545836" y="3794760"/>
            <a:ext cx="1097280" cy="0"/>
          </a:xfrm>
          <a:prstGeom prst="line">
            <a:avLst/>
          </a:prstGeom>
          <a:noFill/>
          <a:ln w="25400">
            <a:solidFill>
              <a:srgbClr val="3FBF9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397764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SLMs are, how they compare to LLMs and frontier models,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choose, what it costs to host, and a live tagging pipeline.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icons/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574243"/>
            <a:ext cx="405994" cy="405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SLM?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Language Model is a language model deliberately built (or distilled) small — usually under 10 billion parameters — to run fast and cheap, often entirely on your own machine, with no API round-trip.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146304" cy="146304"/>
          </a:xfrm>
          <a:prstGeom prst="ellipse">
            <a:avLst/>
          </a:prstGeom>
          <a:solidFill>
            <a:srgbClr val="3FBF9F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6700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Specialist, not generalist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944368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for a narrow job — classification, extraction, routing — rather than broad open-domain reasoning.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46304" cy="146304"/>
          </a:xfrm>
          <a:prstGeom prst="ellipse">
            <a:avLst/>
          </a:prstGeom>
          <a:solidFill>
            <a:srgbClr val="3FBF9F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51129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&amp; fast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3785616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responses on modest hardware; no per-token API bill.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471416"/>
            <a:ext cx="146304" cy="146304"/>
          </a:xfrm>
          <a:prstGeom prst="ellipse">
            <a:avLst/>
          </a:prstGeom>
          <a:solidFill>
            <a:srgbClr val="3FBF9F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435254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4626864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on a laptop or edge device via tools like Ollama — your data never leaves the machine.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5312664"/>
            <a:ext cx="146304" cy="146304"/>
          </a:xfrm>
          <a:prstGeom prst="ellipse">
            <a:avLst/>
          </a:prstGeom>
          <a:solidFill>
            <a:srgbClr val="3FBF9F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51937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enough, often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8680" y="5468112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well-prompted SLM can match a much larger model on a well-defined task.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0" y="1417320"/>
            <a:ext cx="4343400" cy="4617720"/>
          </a:xfrm>
          <a:prstGeom prst="roundRect">
            <a:avLst>
              <a:gd name="adj" fmla="val 2526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0" y="201168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&lt;10B</a:t>
            </a:r>
            <a:endParaRPr lang="en-US" sz="6000" dirty="0"/>
          </a:p>
        </p:txBody>
      </p:sp>
      <p:sp>
        <p:nvSpPr>
          <p:cNvPr id="20" name="Text 17"/>
          <p:cNvSpPr/>
          <p:nvPr/>
        </p:nvSpPr>
        <p:spPr>
          <a:xfrm>
            <a:off x="7315200" y="29718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parameters, typically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772400" y="3520440"/>
            <a:ext cx="3429000" cy="0"/>
          </a:xfrm>
          <a:prstGeom prst="line">
            <a:avLst/>
          </a:prstGeom>
          <a:noFill/>
          <a:ln w="12700">
            <a:solidFill>
              <a:srgbClr val="D5DCE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89520" y="37033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589520" y="40416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Qwen2.5 (0.5B – 3B)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589520" y="4389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Llama 3.2 (1B / 3B)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589520" y="47365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Phi-3.5-mini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589520" y="50840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Gemma 2 (2B)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SLMs in Practice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574243"/>
            <a:ext cx="405994" cy="405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Language Model Landscape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344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nested, not competing categories — all are “language models,” scaled differently.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3FBF9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9842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SLM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2450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Language Model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2715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10B params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74920" y="1929384"/>
            <a:ext cx="6656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specialist. Speed, low cost, on-device / on-prem control.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74920" y="2514600"/>
            <a:ext cx="6656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Qwen2.5-3B, Phi-3.5-mini, Gemma 2B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364992"/>
            <a:ext cx="6309360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474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77240" y="39410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7724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 of billions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178040" y="3419856"/>
            <a:ext cx="4553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generalist. Broad knowledge, nuanced reasoning across domains.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178040" y="4005072"/>
            <a:ext cx="4553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70B, Qwen2.5 32B, Mixtral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855464"/>
            <a:ext cx="8412480" cy="1234440"/>
          </a:xfrm>
          <a:prstGeom prst="roundRect">
            <a:avLst>
              <a:gd name="adj" fmla="val 7407"/>
            </a:avLst>
          </a:prstGeom>
          <a:solidFill>
            <a:srgbClr val="21295C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496519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FLM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777240" y="54315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Language Model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77240" y="5696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100s of billions+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9281160" y="4910328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art. Deep multi-step reasoning, tool use, agentic planning.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9281160" y="5495544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Opus, GPT-5, Gemini Pro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SLMs in Practice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574243"/>
            <a:ext cx="405994" cy="405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You Choose?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344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model to the job — bigger is not automatically better.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46120" y="169164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3FBF9F"/>
          </a:solidFill>
          <a:ln/>
        </p:spPr>
      </p:sp>
      <p:sp>
        <p:nvSpPr>
          <p:cNvPr id="7" name="Shape 4"/>
          <p:cNvSpPr/>
          <p:nvPr/>
        </p:nvSpPr>
        <p:spPr>
          <a:xfrm>
            <a:off x="6263640" y="169164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8" name="Shape 5"/>
          <p:cNvSpPr/>
          <p:nvPr/>
        </p:nvSpPr>
        <p:spPr>
          <a:xfrm>
            <a:off x="9052560" y="169164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3246120" y="1691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6364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05256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(FLM)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203704"/>
            <a:ext cx="11155680" cy="658368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25856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shape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337560" y="22585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taxonomy / narrow rule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55080" y="225856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Broad, open-ended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0" y="22585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Multi-step, ambiguous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2916936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depth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337560" y="291693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355080" y="2916936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synthesis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0" y="291693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chained reasoning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520440"/>
            <a:ext cx="11155680" cy="658368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3575304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need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3337560" y="357530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355080" y="3575304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seconds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144000" y="357530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to minutes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48640" y="4233672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sensitivity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3337560" y="423367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volume, cheap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355080" y="423367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144000" y="423367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volume, high value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4837176"/>
            <a:ext cx="11155680" cy="658368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31" name="Text 28"/>
          <p:cNvSpPr/>
          <p:nvPr/>
        </p:nvSpPr>
        <p:spPr>
          <a:xfrm>
            <a:off x="548640" y="489204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3337560" y="48920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/ on-prem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355080" y="48920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144000" y="48920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hosted API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SLMs in Practice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574243"/>
            <a:ext cx="405994" cy="405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 AI &amp; Machine Spec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344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actually takes to run these locally (e.g. via Ollama).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6217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783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035808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RAM/VRAM (Q4)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230368" y="1783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laptop?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240280"/>
            <a:ext cx="6217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0.5B – 1B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035808" y="2240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GB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30368" y="2240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fast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2697480"/>
            <a:ext cx="6217920" cy="457200"/>
          </a:xfrm>
          <a:prstGeom prst="rect">
            <a:avLst/>
          </a:prstGeom>
          <a:solidFill>
            <a:srgbClr val="F4F7F9"/>
          </a:solidFill>
          <a:ln w="9525">
            <a:solidFill>
              <a:srgbClr val="E3E9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– 4B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035808" y="2697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~2–4 GB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230368" y="2697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154680"/>
            <a:ext cx="6217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3154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– 8B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035808" y="3154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~5–6 GB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230368" y="3154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slower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3611880"/>
            <a:ext cx="6217920" cy="457200"/>
          </a:xfrm>
          <a:prstGeom prst="rect">
            <a:avLst/>
          </a:prstGeom>
          <a:solidFill>
            <a:srgbClr val="F4F7F9"/>
          </a:solidFill>
          <a:ln w="9525">
            <a:solidFill>
              <a:srgbClr val="E3E9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3611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14B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035808" y="3611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GB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230368" y="3611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on 16 GB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4069080"/>
            <a:ext cx="6217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8368" y="4069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30B (MoE, ~3B active)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035808" y="4069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 GB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230368" y="4069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recommended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4526280"/>
            <a:ext cx="6217920" cy="457200"/>
          </a:xfrm>
          <a:prstGeom prst="rect">
            <a:avLst/>
          </a:prstGeom>
          <a:solidFill>
            <a:srgbClr val="F4F7F9"/>
          </a:solidFill>
          <a:ln w="9525">
            <a:solidFill>
              <a:srgbClr val="E3E9E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8368" y="4526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70B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035808" y="4526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~43 GB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230368" y="4526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/ server only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086600" y="1783080"/>
            <a:ext cx="4572000" cy="4572000"/>
          </a:xfrm>
          <a:prstGeom prst="roundRect">
            <a:avLst>
              <a:gd name="adj" fmla="val 2400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360920" y="1965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vs. GPU inference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7360920" y="2523744"/>
            <a:ext cx="118872" cy="118872"/>
          </a:xfrm>
          <a:prstGeom prst="ellipse">
            <a:avLst/>
          </a:prstGeom>
          <a:solidFill>
            <a:srgbClr val="3FBF9F"/>
          </a:solidFill>
          <a:ln/>
        </p:spPr>
      </p:sp>
      <p:sp>
        <p:nvSpPr>
          <p:cNvPr id="37" name="Text 34"/>
          <p:cNvSpPr/>
          <p:nvPr/>
        </p:nvSpPr>
        <p:spPr>
          <a:xfrm>
            <a:off x="7616952" y="24140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stays flat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7616952" y="268833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 load once; footprint doesn't grow with output length.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360920" y="3493008"/>
            <a:ext cx="118872" cy="118872"/>
          </a:xfrm>
          <a:prstGeom prst="ellipse">
            <a:avLst/>
          </a:prstGeom>
          <a:solidFill>
            <a:srgbClr val="3FBF9F"/>
          </a:solidFill>
          <a:ln/>
        </p:spPr>
      </p:sp>
      <p:sp>
        <p:nvSpPr>
          <p:cNvPr id="40" name="Text 37"/>
          <p:cNvSpPr/>
          <p:nvPr/>
        </p:nvSpPr>
        <p:spPr>
          <a:xfrm>
            <a:off x="7616952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is the ongoing cost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7616952" y="3657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generated token needs a full forward pass — compute, not storage.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360920" y="4462272"/>
            <a:ext cx="118872" cy="118872"/>
          </a:xfrm>
          <a:prstGeom prst="ellipse">
            <a:avLst/>
          </a:prstGeom>
          <a:solidFill>
            <a:srgbClr val="3FBF9F"/>
          </a:solidFill>
          <a:ln/>
        </p:spPr>
      </p:sp>
      <p:sp>
        <p:nvSpPr>
          <p:cNvPr id="43" name="Text 40"/>
          <p:cNvSpPr/>
          <p:nvPr/>
        </p:nvSpPr>
        <p:spPr>
          <a:xfrm>
            <a:off x="7616952" y="43525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bandwidth bottleneck</a:t>
            </a:r>
            <a:endParaRPr lang="en-US" sz="1250" dirty="0"/>
          </a:p>
        </p:txBody>
      </p:sp>
      <p:sp>
        <p:nvSpPr>
          <p:cNvPr id="44" name="Text 41"/>
          <p:cNvSpPr/>
          <p:nvPr/>
        </p:nvSpPr>
        <p:spPr>
          <a:xfrm>
            <a:off x="7616952" y="462686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often waits on data movement, not raw compute — usage looks moderate, not maxed.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360920" y="5431536"/>
            <a:ext cx="118872" cy="118872"/>
          </a:xfrm>
          <a:prstGeom prst="ellipse">
            <a:avLst/>
          </a:prstGeom>
          <a:solidFill>
            <a:srgbClr val="3FBF9F"/>
          </a:solidFill>
          <a:ln/>
        </p:spPr>
      </p:sp>
      <p:sp>
        <p:nvSpPr>
          <p:cNvPr id="46" name="Text 43"/>
          <p:cNvSpPr/>
          <p:nvPr/>
        </p:nvSpPr>
        <p:spPr>
          <a:xfrm>
            <a:off x="7616952" y="53218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parallelizes this</a:t>
            </a:r>
            <a:endParaRPr lang="en-US" sz="1250" dirty="0"/>
          </a:p>
        </p:txBody>
      </p:sp>
      <p:sp>
        <p:nvSpPr>
          <p:cNvPr id="47" name="Text 44"/>
          <p:cNvSpPr/>
          <p:nvPr/>
        </p:nvSpPr>
        <p:spPr>
          <a:xfrm>
            <a:off x="7616952" y="55961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can run 10–50x faster — the single biggest lever for responsiveness.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SLMs in Practice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icons/envel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574243"/>
            <a:ext cx="405994" cy="405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SLM Use Case &amp; Demo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344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tagging today's inbox with a local SLM and a fixed taxonomy.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468880" cy="160020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pic>
        <p:nvPicPr>
          <p:cNvPr id="7" name="Image 1" descr="icons/envelo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975104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252374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40080" y="285292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today's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(API)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054096" y="2500884"/>
            <a:ext cx="429768" cy="256032"/>
          </a:xfrm>
          <a:prstGeom prst="chevron">
            <a:avLst/>
          </a:prstGeom>
          <a:solidFill>
            <a:srgbClr val="3FBF9F"/>
          </a:solidFill>
          <a:ln/>
        </p:spPr>
      </p:sp>
      <p:sp>
        <p:nvSpPr>
          <p:cNvPr id="11" name="Shape 7"/>
          <p:cNvSpPr/>
          <p:nvPr/>
        </p:nvSpPr>
        <p:spPr>
          <a:xfrm>
            <a:off x="3520440" y="1828800"/>
            <a:ext cx="2468880" cy="160020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pic>
        <p:nvPicPr>
          <p:cNvPr id="12" name="Image 2" descr="icons/micro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1975104"/>
            <a:ext cx="512064" cy="5120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20440" y="252374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611880" y="285292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Qwen2.5-3B via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Ollama, local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025896" y="2500884"/>
            <a:ext cx="429768" cy="256032"/>
          </a:xfrm>
          <a:prstGeom prst="chevron">
            <a:avLst/>
          </a:prstGeom>
          <a:solidFill>
            <a:srgbClr val="3FBF9F"/>
          </a:solidFill>
          <a:ln/>
        </p:spPr>
      </p:sp>
      <p:sp>
        <p:nvSpPr>
          <p:cNvPr id="16" name="Shape 11"/>
          <p:cNvSpPr/>
          <p:nvPr/>
        </p:nvSpPr>
        <p:spPr>
          <a:xfrm>
            <a:off x="6492240" y="1828800"/>
            <a:ext cx="2468880" cy="160020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pic>
        <p:nvPicPr>
          <p:cNvPr id="17" name="Image 3" descr="icons/ta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48" y="1975104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92240" y="252374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583680" y="285292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tag set +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8997696" y="2500884"/>
            <a:ext cx="429768" cy="256032"/>
          </a:xfrm>
          <a:prstGeom prst="chevron">
            <a:avLst/>
          </a:prstGeom>
          <a:solidFill>
            <a:srgbClr val="3FBF9F"/>
          </a:solidFill>
          <a:ln/>
        </p:spPr>
      </p:sp>
      <p:sp>
        <p:nvSpPr>
          <p:cNvPr id="21" name="Shape 15"/>
          <p:cNvSpPr/>
          <p:nvPr/>
        </p:nvSpPr>
        <p:spPr>
          <a:xfrm>
            <a:off x="9464040" y="1828800"/>
            <a:ext cx="2468880" cy="160020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pic>
        <p:nvPicPr>
          <p:cNvPr id="22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448" y="1975104"/>
            <a:ext cx="512064" cy="51206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464040" y="252374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9555480" y="285292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UI,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+ filter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54864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demo showed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548640" y="4370832"/>
            <a:ext cx="128016" cy="128016"/>
          </a:xfrm>
          <a:prstGeom prst="ellipse">
            <a:avLst/>
          </a:prstGeom>
          <a:solidFill>
            <a:srgbClr val="3FBF9F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42816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Per-tag descriptions beat a bare tag list — the single biggest accuracy lever, no bigger model needed.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548640" y="4937760"/>
            <a:ext cx="128016" cy="128016"/>
          </a:xfrm>
          <a:prstGeom prst="ellipse">
            <a:avLst/>
          </a:prstGeom>
          <a:solidFill>
            <a:srgbClr val="3FBF9F"/>
          </a:solidFill>
          <a:ln/>
        </p:spPr>
      </p:sp>
      <p:sp>
        <p:nvSpPr>
          <p:cNvPr id="29" name="Text 22"/>
          <p:cNvSpPr/>
          <p:nvPr/>
        </p:nvSpPr>
        <p:spPr>
          <a:xfrm>
            <a:off x="822960" y="4809744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“Thinking mode” models trade latency for reasoning depth — a real cost, not always a win for simple classification.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548640" y="5504688"/>
            <a:ext cx="128016" cy="128016"/>
          </a:xfrm>
          <a:prstGeom prst="ellipse">
            <a:avLst/>
          </a:prstGeom>
          <a:solidFill>
            <a:srgbClr val="3FBF9F"/>
          </a:solidFill>
          <a:ln/>
        </p:spPr>
      </p:sp>
      <p:sp>
        <p:nvSpPr>
          <p:cNvPr id="31" name="Text 24"/>
          <p:cNvSpPr/>
          <p:nvPr/>
        </p:nvSpPr>
        <p:spPr>
          <a:xfrm>
            <a:off x="822960" y="5376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visibility (raw output, parse-success flag) turns silent failures into visible, fixable ones.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SLMs in Practice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1005840"/>
            <a:ext cx="914400" cy="914400"/>
          </a:xfrm>
          <a:prstGeom prst="ellipse">
            <a:avLst/>
          </a:prstGeom>
          <a:solidFill>
            <a:srgbClr val="3FBF9F"/>
          </a:solidFill>
          <a:ln/>
        </p:spPr>
      </p:sp>
      <p:pic>
        <p:nvPicPr>
          <p:cNvPr id="3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6148" y="112471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28600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model. Well-engineered pipeline.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31520" y="32461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2026-09-05T16:11:57Z</dcterms:created>
  <dcterms:modified xsi:type="dcterms:W3CDTF">2026-09-05T16:11:57Z</dcterms:modified>
</cp:coreProperties>
</file>