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0797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4DA88-9C5F-3595-5FF2-8086C070D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E8F2EE-832B-4C3B-88D5-9F7CE4C25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83DEF-BEB5-0D4B-4371-8FA36643A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1DA63D-DEC0-5E33-8330-B5D7E8D6F7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95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82296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315" y="95371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148840"/>
            <a:ext cx="107259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Language Models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306324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Pipelines with SLMs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545836" y="3794760"/>
            <a:ext cx="1097280" cy="0"/>
          </a:xfrm>
          <a:prstGeom prst="line">
            <a:avLst/>
          </a:prstGeom>
          <a:noFill/>
          <a:ln w="25400">
            <a:solidFill>
              <a:srgbClr val="3FBF9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SLMs are, how they compare to LLMs and frontier models,</a:t>
            </a:r>
            <a:endParaRPr lang="en-US" sz="14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choose, what it costs to host, and a live tagging pipeline.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microc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7424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502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SLM?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6309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Language Model is a language model deliberately built (or distilled) small — usually under 10 billion parameters — to run fast and cheap, often entirely on your own machine, with no API round-trip.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788920"/>
            <a:ext cx="146304" cy="146304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68680" y="267004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Specialist, not generalist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68680" y="2944368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for a narrow job — classification, extraction, routing — rather than broad open-domain reasoning.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3630168"/>
            <a:ext cx="146304" cy="146304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68680" y="351129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&amp; fast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68680" y="3785616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 responses on modest hardware; no per-token API bill.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471416"/>
            <a:ext cx="146304" cy="146304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68680" y="435254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locally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" y="4626864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on a laptop or edge device via tools like Ollama — your data never leaves the machine.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5312664"/>
            <a:ext cx="146304" cy="146304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68680" y="519379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enough, often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68680" y="5468112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well-prompted SLM can match a much larger model on a well-defined task.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315200" y="1417320"/>
            <a:ext cx="4343400" cy="4617720"/>
          </a:xfrm>
          <a:prstGeom prst="roundRect">
            <a:avLst>
              <a:gd name="adj" fmla="val 2526"/>
            </a:avLst>
          </a:prstGeom>
          <a:solidFill>
            <a:srgbClr val="F4F7F9"/>
          </a:solidFill>
          <a:ln w="12700">
            <a:solidFill>
              <a:srgbClr val="E3E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315200" y="2011680"/>
            <a:ext cx="4343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&lt;10B</a:t>
            </a:r>
            <a:endParaRPr lang="en-US" sz="6000" dirty="0"/>
          </a:p>
        </p:txBody>
      </p:sp>
      <p:sp>
        <p:nvSpPr>
          <p:cNvPr id="20" name="Text 17"/>
          <p:cNvSpPr/>
          <p:nvPr/>
        </p:nvSpPr>
        <p:spPr>
          <a:xfrm>
            <a:off x="7315200" y="297180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parameters, typically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772400" y="3520440"/>
            <a:ext cx="3429000" cy="0"/>
          </a:xfrm>
          <a:prstGeom prst="line">
            <a:avLst/>
          </a:prstGeom>
          <a:noFill/>
          <a:ln w="12700">
            <a:solidFill>
              <a:srgbClr val="D5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589520" y="370332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589520" y="404164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Qwen2.5 (0.5B – 3B)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7589520" y="4389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Llama 3.2 (1B / 3B)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589520" y="4736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Phi-3.5-mini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7589520" y="508406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Gemma 2 (2B)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SLMs in Practice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7424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Landscape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23444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nested, not competing categories — all are “language models,” scaled differently.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98424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SLM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77240" y="2450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7157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10B params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074920" y="1929384"/>
            <a:ext cx="6656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specialist. Speed, low cost, on-device / on-prem control.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074920" y="2514600"/>
            <a:ext cx="6656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Qwen2.5-3B, Phi-3.5-mini, Gemma 2B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364992"/>
            <a:ext cx="6309360" cy="1234440"/>
          </a:xfrm>
          <a:prstGeom prst="roundRect">
            <a:avLst>
              <a:gd name="adj" fmla="val 7407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77240" y="34747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77240" y="39410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77240" y="42062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10B+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178040" y="3419856"/>
            <a:ext cx="4553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generalist. Broad knowledge, nuanced reasoning across domains.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178040" y="4005072"/>
            <a:ext cx="4553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3.1 70B, Qwen2.5 32B, Mixtral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55464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77240" y="4965192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FLM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777240" y="54315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Language Model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77240" y="56967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100s of billions+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9281160" y="4910328"/>
            <a:ext cx="2450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art. Deep multi-step reasoning, tool use, agentic planning.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9281160" y="5495544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Opus, GPT-5, Gemini Pro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SLMs in Practice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7424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SLM?</a:t>
            </a:r>
            <a:endParaRPr lang="en-US" sz="3000" dirty="0"/>
          </a:p>
        </p:txBody>
      </p:sp>
      <p:sp>
        <p:nvSpPr>
          <p:cNvPr id="35" name="Text 32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SLMs in Practice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6F2703-FB69-F864-FA66-80B565B7E56E}"/>
              </a:ext>
            </a:extLst>
          </p:cNvPr>
          <p:cNvSpPr txBox="1"/>
          <p:nvPr/>
        </p:nvSpPr>
        <p:spPr>
          <a:xfrm>
            <a:off x="457200" y="1229253"/>
            <a:ext cx="6096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/>
              <a:t>Speed, Cost, Governance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1755648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 spc="150">
                <a:solidFill>
                  <a:srgbClr val="1C7293"/>
                </a:solidFill>
                <a:latin typeface="Calibri"/>
              </a:rPr>
              <a:t>USE CASE IN PRACTICE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2029968"/>
            <a:ext cx="6035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B1F27"/>
                </a:solidFill>
                <a:latin typeface="Cambria"/>
              </a:rPr>
              <a:t>Document Classification &amp; Routing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2578608"/>
            <a:ext cx="5577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0" i="0">
                <a:solidFill>
                  <a:srgbClr val="5B6472"/>
                </a:solidFill>
                <a:latin typeface="Calibri"/>
              </a:rPr>
              <a:t>A back-office pipeline ingests scanned invoices, contracts, and support tickets — an SLM reads each one and decides where it goes.</a:t>
            </a:r>
          </a:p>
        </p:txBody>
      </p:sp>
      <p:sp>
        <p:nvSpPr>
          <p:cNvPr id="42" name="Oval 41"/>
          <p:cNvSpPr/>
          <p:nvPr/>
        </p:nvSpPr>
        <p:spPr>
          <a:xfrm>
            <a:off x="457200" y="3310127"/>
            <a:ext cx="109728" cy="109728"/>
          </a:xfrm>
          <a:prstGeom prst="ellipse">
            <a:avLst/>
          </a:prstGeom>
          <a:solidFill>
            <a:srgbClr val="3FB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246120"/>
            <a:ext cx="5349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1B1F27"/>
                </a:solidFill>
                <a:latin typeface="Calibri"/>
              </a:rPr>
              <a:t>Inbound triage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sz="1200" b="0" i="0">
                <a:solidFill>
                  <a:srgbClr val="5B6472"/>
                </a:solidFill>
                <a:latin typeface="Calibri"/>
              </a:rPr>
              <a:t>The SLM classifies each document in a single pass — invoice, contract, ticket, or KYC form.</a:t>
            </a:r>
          </a:p>
        </p:txBody>
      </p:sp>
      <p:sp>
        <p:nvSpPr>
          <p:cNvPr id="44" name="Oval 43"/>
          <p:cNvSpPr/>
          <p:nvPr/>
        </p:nvSpPr>
        <p:spPr>
          <a:xfrm>
            <a:off x="457200" y="4114800"/>
            <a:ext cx="109728" cy="109728"/>
          </a:xfrm>
          <a:prstGeom prst="ellipse">
            <a:avLst/>
          </a:prstGeom>
          <a:solidFill>
            <a:srgbClr val="3FB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4050791"/>
            <a:ext cx="5349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1B1F27"/>
                </a:solidFill>
                <a:latin typeface="Calibri"/>
              </a:rPr>
              <a:t>Confidence-based routing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sz="1200" b="0" i="0">
                <a:solidFill>
                  <a:srgbClr val="5B6472"/>
                </a:solidFill>
                <a:latin typeface="Calibri"/>
              </a:rPr>
              <a:t>High-confidence results go straight to the right queue; low-confidence cases fall back to a human reviewer.</a:t>
            </a:r>
          </a:p>
        </p:txBody>
      </p:sp>
      <p:sp>
        <p:nvSpPr>
          <p:cNvPr id="46" name="Oval 45"/>
          <p:cNvSpPr/>
          <p:nvPr/>
        </p:nvSpPr>
        <p:spPr>
          <a:xfrm>
            <a:off x="457200" y="4919472"/>
            <a:ext cx="109728" cy="109728"/>
          </a:xfrm>
          <a:prstGeom prst="ellipse">
            <a:avLst/>
          </a:prstGeom>
          <a:solidFill>
            <a:srgbClr val="3FB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4855464"/>
            <a:ext cx="5349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1B1F27"/>
                </a:solidFill>
                <a:latin typeface="Calibri"/>
              </a:rPr>
              <a:t>Sub-second, on-prem</a:t>
            </a:r>
          </a:p>
          <a:p>
            <a:pPr>
              <a:lnSpc>
                <a:spcPct val="110000"/>
              </a:lnSpc>
              <a:spcBef>
                <a:spcPts val="200"/>
              </a:spcBef>
            </a:pPr>
            <a:r>
              <a:rPr sz="1200" b="0" i="0">
                <a:solidFill>
                  <a:srgbClr val="5B6472"/>
                </a:solidFill>
                <a:latin typeface="Calibri"/>
              </a:rPr>
              <a:t>Classification runs next to the document store — no data leaves the network, no per-call API fees.</a:t>
            </a:r>
          </a:p>
        </p:txBody>
      </p:sp>
      <p:pic>
        <p:nvPicPr>
          <p:cNvPr id="48" name="Picture 47" descr="diagram_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77440"/>
            <a:ext cx="5394960" cy="25794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FBB22-EA81-EDF0-D9B9-8324DF7A1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E2BC972-7CDE-B0F7-7CB3-4395A5C58561}"/>
              </a:ext>
            </a:extLst>
          </p:cNvPr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balance.png">
            <a:extLst>
              <a:ext uri="{FF2B5EF4-FFF2-40B4-BE49-F238E27FC236}">
                <a16:creationId xmlns:a16="http://schemas.microsoft.com/office/drawing/2014/main" id="{23861952-8A44-50DA-BA74-CF6E70B67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74243"/>
            <a:ext cx="405994" cy="40599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632C1777-91F7-612D-8249-5117D744A74D}"/>
              </a:ext>
            </a:extLst>
          </p:cNvPr>
          <p:cNvSpPr/>
          <p:nvPr/>
        </p:nvSpPr>
        <p:spPr>
          <a:xfrm>
            <a:off x="123444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Should You Choose?</a:t>
            </a:r>
            <a:endParaRPr lang="en-US" sz="30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E59760E-56D1-9BE4-59AA-324D9FE3FD1E}"/>
              </a:ext>
            </a:extLst>
          </p:cNvPr>
          <p:cNvSpPr/>
          <p:nvPr/>
        </p:nvSpPr>
        <p:spPr>
          <a:xfrm>
            <a:off x="123444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model to the job — bigger is not automatically better.</a:t>
            </a:r>
            <a:endParaRPr lang="en-US" sz="130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FBFCBCC5-9B59-DEDE-3F3B-83D02A8A9A82}"/>
              </a:ext>
            </a:extLst>
          </p:cNvPr>
          <p:cNvSpPr/>
          <p:nvPr/>
        </p:nvSpPr>
        <p:spPr>
          <a:xfrm>
            <a:off x="3246120" y="1691640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780F0F4-BF09-61A2-DFD5-A8F9001687FB}"/>
              </a:ext>
            </a:extLst>
          </p:cNvPr>
          <p:cNvSpPr/>
          <p:nvPr/>
        </p:nvSpPr>
        <p:spPr>
          <a:xfrm>
            <a:off x="6263640" y="16916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73BA2DF-DB60-2A50-A07E-FB05749F10F4}"/>
              </a:ext>
            </a:extLst>
          </p:cNvPr>
          <p:cNvSpPr/>
          <p:nvPr/>
        </p:nvSpPr>
        <p:spPr>
          <a:xfrm>
            <a:off x="9052560" y="169164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25A09F7-36CB-BC1D-B58D-C13175B412C7}"/>
              </a:ext>
            </a:extLst>
          </p:cNvPr>
          <p:cNvSpPr/>
          <p:nvPr/>
        </p:nvSpPr>
        <p:spPr>
          <a:xfrm>
            <a:off x="3246120" y="1691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4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ED746AE-3996-EE20-F62A-F9E24BEFF1F4}"/>
              </a:ext>
            </a:extLst>
          </p:cNvPr>
          <p:cNvSpPr/>
          <p:nvPr/>
        </p:nvSpPr>
        <p:spPr>
          <a:xfrm>
            <a:off x="6263640" y="16916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551B76D-529B-7683-4330-50EA845DD37A}"/>
              </a:ext>
            </a:extLst>
          </p:cNvPr>
          <p:cNvSpPr/>
          <p:nvPr/>
        </p:nvSpPr>
        <p:spPr>
          <a:xfrm>
            <a:off x="9052560" y="1691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(FLM)</a:t>
            </a:r>
            <a:endParaRPr lang="en-US" sz="14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6156998-862D-6D89-E9B7-FA9050ABA176}"/>
              </a:ext>
            </a:extLst>
          </p:cNvPr>
          <p:cNvSpPr/>
          <p:nvPr/>
        </p:nvSpPr>
        <p:spPr>
          <a:xfrm>
            <a:off x="548640" y="2203704"/>
            <a:ext cx="11155680" cy="658368"/>
          </a:xfrm>
          <a:prstGeom prst="rect">
            <a:avLst/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B7BA498B-73B5-CED3-314E-B8D5B2ADD2BD}"/>
              </a:ext>
            </a:extLst>
          </p:cNvPr>
          <p:cNvSpPr/>
          <p:nvPr/>
        </p:nvSpPr>
        <p:spPr>
          <a:xfrm>
            <a:off x="548640" y="2258568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shape</a:t>
            </a:r>
            <a:endParaRPr lang="en-US" sz="12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1D92056-CD8C-EA14-0FA9-11AE944FBA50}"/>
              </a:ext>
            </a:extLst>
          </p:cNvPr>
          <p:cNvSpPr/>
          <p:nvPr/>
        </p:nvSpPr>
        <p:spPr>
          <a:xfrm>
            <a:off x="3337560" y="2258568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taxonomy / narrow rule</a:t>
            </a:r>
            <a:endParaRPr lang="en-US" sz="12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19EF535-6201-DAF1-321B-15F872A1E0E5}"/>
              </a:ext>
            </a:extLst>
          </p:cNvPr>
          <p:cNvSpPr/>
          <p:nvPr/>
        </p:nvSpPr>
        <p:spPr>
          <a:xfrm>
            <a:off x="6355080" y="2258568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Broad, open-ended</a:t>
            </a:r>
            <a:endParaRPr lang="en-US" sz="12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5382899-96F6-930A-1A41-1E931B22BE4D}"/>
              </a:ext>
            </a:extLst>
          </p:cNvPr>
          <p:cNvSpPr/>
          <p:nvPr/>
        </p:nvSpPr>
        <p:spPr>
          <a:xfrm>
            <a:off x="9144000" y="2258568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Multi-step, ambiguous</a:t>
            </a:r>
            <a:endParaRPr lang="en-US" sz="12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AE421AE-1999-5F57-CC48-DBC601D13AA4}"/>
              </a:ext>
            </a:extLst>
          </p:cNvPr>
          <p:cNvSpPr/>
          <p:nvPr/>
        </p:nvSpPr>
        <p:spPr>
          <a:xfrm>
            <a:off x="548640" y="2916936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depth</a:t>
            </a:r>
            <a:endParaRPr lang="en-US" sz="12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50BCEA8-1C54-D193-C276-18221C63C250}"/>
              </a:ext>
            </a:extLst>
          </p:cNvPr>
          <p:cNvSpPr/>
          <p:nvPr/>
        </p:nvSpPr>
        <p:spPr>
          <a:xfrm>
            <a:off x="3337560" y="2916936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match</a:t>
            </a:r>
            <a:endParaRPr lang="en-US" sz="12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B51A424B-ED69-AA56-D6D3-C99A6EC46321}"/>
              </a:ext>
            </a:extLst>
          </p:cNvPr>
          <p:cNvSpPr/>
          <p:nvPr/>
        </p:nvSpPr>
        <p:spPr>
          <a:xfrm>
            <a:off x="6355080" y="2916936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synthesis</a:t>
            </a:r>
            <a:endParaRPr lang="en-US" sz="12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B0F0EF9-5F00-4927-2C8E-A54AD5896B0E}"/>
              </a:ext>
            </a:extLst>
          </p:cNvPr>
          <p:cNvSpPr/>
          <p:nvPr/>
        </p:nvSpPr>
        <p:spPr>
          <a:xfrm>
            <a:off x="9144000" y="2916936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chained reasoning</a:t>
            </a:r>
            <a:endParaRPr lang="en-US" sz="1200" dirty="0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EDA9FE0C-D24C-D485-72F8-DAD67D5B9FB7}"/>
              </a:ext>
            </a:extLst>
          </p:cNvPr>
          <p:cNvSpPr/>
          <p:nvPr/>
        </p:nvSpPr>
        <p:spPr>
          <a:xfrm>
            <a:off x="548640" y="3520440"/>
            <a:ext cx="11155680" cy="658368"/>
          </a:xfrm>
          <a:prstGeom prst="rect">
            <a:avLst/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F8F7E0A-C3DD-166C-C9D5-4FC78D281D44}"/>
              </a:ext>
            </a:extLst>
          </p:cNvPr>
          <p:cNvSpPr/>
          <p:nvPr/>
        </p:nvSpPr>
        <p:spPr>
          <a:xfrm>
            <a:off x="548640" y="3575304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need</a:t>
            </a:r>
            <a:endParaRPr lang="en-US" sz="1250" dirty="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B9D21C-3708-D236-1FDD-C69953B70BC0}"/>
              </a:ext>
            </a:extLst>
          </p:cNvPr>
          <p:cNvSpPr/>
          <p:nvPr/>
        </p:nvSpPr>
        <p:spPr>
          <a:xfrm>
            <a:off x="3337560" y="3575304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</a:t>
            </a:r>
            <a:endParaRPr lang="en-US" sz="12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D0E0E890-C144-1E40-4CD9-C29278DA20CD}"/>
              </a:ext>
            </a:extLst>
          </p:cNvPr>
          <p:cNvSpPr/>
          <p:nvPr/>
        </p:nvSpPr>
        <p:spPr>
          <a:xfrm>
            <a:off x="6355080" y="3575304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seconds</a:t>
            </a:r>
            <a:endParaRPr lang="en-US" sz="120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CD3B1D7-80FB-1163-BB36-ED661CF6BD90}"/>
              </a:ext>
            </a:extLst>
          </p:cNvPr>
          <p:cNvSpPr/>
          <p:nvPr/>
        </p:nvSpPr>
        <p:spPr>
          <a:xfrm>
            <a:off x="9144000" y="3575304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to minutes</a:t>
            </a:r>
            <a:endParaRPr lang="en-US" sz="120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3518DBD-7722-681B-8E35-CC4DD9900D70}"/>
              </a:ext>
            </a:extLst>
          </p:cNvPr>
          <p:cNvSpPr/>
          <p:nvPr/>
        </p:nvSpPr>
        <p:spPr>
          <a:xfrm>
            <a:off x="548640" y="4233672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sensitivity</a:t>
            </a:r>
            <a:endParaRPr lang="en-US" sz="125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11442440-C18A-3E5C-0402-1927E38D2EE0}"/>
              </a:ext>
            </a:extLst>
          </p:cNvPr>
          <p:cNvSpPr/>
          <p:nvPr/>
        </p:nvSpPr>
        <p:spPr>
          <a:xfrm>
            <a:off x="3337560" y="4233672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cheap</a:t>
            </a:r>
            <a:endParaRPr lang="en-US" sz="120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C2A6A9F-6C39-EB1B-6237-907200758169}"/>
              </a:ext>
            </a:extLst>
          </p:cNvPr>
          <p:cNvSpPr/>
          <p:nvPr/>
        </p:nvSpPr>
        <p:spPr>
          <a:xfrm>
            <a:off x="6355080" y="4233672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2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4BACD8B6-4CF0-DAA4-376F-D8DF6DD35E28}"/>
              </a:ext>
            </a:extLst>
          </p:cNvPr>
          <p:cNvSpPr/>
          <p:nvPr/>
        </p:nvSpPr>
        <p:spPr>
          <a:xfrm>
            <a:off x="9144000" y="423367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volume, high value</a:t>
            </a:r>
            <a:endParaRPr lang="en-US" sz="12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20C3DC5B-FF8F-C84C-EBD9-B7F72073CDDE}"/>
              </a:ext>
            </a:extLst>
          </p:cNvPr>
          <p:cNvSpPr/>
          <p:nvPr/>
        </p:nvSpPr>
        <p:spPr>
          <a:xfrm>
            <a:off x="548640" y="4837176"/>
            <a:ext cx="11155680" cy="658368"/>
          </a:xfrm>
          <a:prstGeom prst="rect">
            <a:avLst/>
          </a:prstGeom>
          <a:solidFill>
            <a:srgbClr val="F4F7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77C295D3-B964-1C42-F9CC-688A7C981D50}"/>
              </a:ext>
            </a:extLst>
          </p:cNvPr>
          <p:cNvSpPr/>
          <p:nvPr/>
        </p:nvSpPr>
        <p:spPr>
          <a:xfrm>
            <a:off x="548640" y="489204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control</a:t>
            </a:r>
            <a:endParaRPr lang="en-US" sz="1250" dirty="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07D4367-C027-4A6D-00E5-AD47FD2CCB1A}"/>
              </a:ext>
            </a:extLst>
          </p:cNvPr>
          <p:cNvSpPr/>
          <p:nvPr/>
        </p:nvSpPr>
        <p:spPr>
          <a:xfrm>
            <a:off x="333756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/ on-prem</a:t>
            </a:r>
            <a:endParaRPr lang="en-US" sz="12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4CF5372-1D55-57CC-8587-2C28C80A2F2B}"/>
              </a:ext>
            </a:extLst>
          </p:cNvPr>
          <p:cNvSpPr/>
          <p:nvPr/>
        </p:nvSpPr>
        <p:spPr>
          <a:xfrm>
            <a:off x="6355080" y="4892040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12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17AE4626-940E-4E85-F3AF-4BFEEB1D5DD4}"/>
              </a:ext>
            </a:extLst>
          </p:cNvPr>
          <p:cNvSpPr/>
          <p:nvPr/>
        </p:nvSpPr>
        <p:spPr>
          <a:xfrm>
            <a:off x="9144000" y="489204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hosted API</a:t>
            </a:r>
            <a:endParaRPr lang="en-US" sz="120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2BF3FAA4-4CEA-2AB2-7EFC-2B7591509D4F}"/>
              </a:ext>
            </a:extLst>
          </p:cNvPr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SLMs in Practice</a:t>
            </a:r>
            <a:endParaRPr lang="en-US" sz="10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6C27E8-154F-1193-04A0-2C5AEFAEA3E8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273932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7424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Hosting AI &amp; Machine Spec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23444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actually takes to run these locally (e.g. via Ollama).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621792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E3E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58368" y="17830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3035808" y="1783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RAM/VRAM (Q4)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230368" y="1783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laptop?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240280"/>
            <a:ext cx="6217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58368" y="2240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0.5B – 1B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035808" y="2240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GB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230368" y="2240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fast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2697480"/>
            <a:ext cx="6217920" cy="457200"/>
          </a:xfrm>
          <a:prstGeom prst="rect">
            <a:avLst/>
          </a:prstGeom>
          <a:solidFill>
            <a:srgbClr val="F4F7F9"/>
          </a:solidFill>
          <a:ln w="9525">
            <a:solidFill>
              <a:srgbClr val="E3E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58368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 – 4B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035808" y="2697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~2–4 GB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230368" y="2697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3154680"/>
            <a:ext cx="6217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58368" y="31546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 – 8B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035808" y="3154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~5–6 GB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230368" y="31546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slower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6217920" cy="457200"/>
          </a:xfrm>
          <a:prstGeom prst="rect">
            <a:avLst/>
          </a:prstGeom>
          <a:solidFill>
            <a:srgbClr val="F4F7F9"/>
          </a:solidFill>
          <a:ln w="9525">
            <a:solidFill>
              <a:srgbClr val="E3E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58368" y="36118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14B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035808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 GB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230368" y="36118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on 16 GB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4069080"/>
            <a:ext cx="6217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58368" y="40690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30B (MoE, ~3B active)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035808" y="4069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 GB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230368" y="4069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recommended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526280"/>
            <a:ext cx="6217920" cy="457200"/>
          </a:xfrm>
          <a:prstGeom prst="rect">
            <a:avLst/>
          </a:prstGeom>
          <a:solidFill>
            <a:srgbClr val="F4F7F9"/>
          </a:solidFill>
          <a:ln w="9525">
            <a:solidFill>
              <a:srgbClr val="E3E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8368" y="4526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70B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3035808" y="4526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~43 GB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230368" y="4526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/ server only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7086600" y="1783080"/>
            <a:ext cx="4572000" cy="4572000"/>
          </a:xfrm>
          <a:prstGeom prst="roundRect">
            <a:avLst>
              <a:gd name="adj" fmla="val 2400"/>
            </a:avLst>
          </a:prstGeom>
          <a:solidFill>
            <a:srgbClr val="F4F7F9"/>
          </a:solidFill>
          <a:ln w="12700">
            <a:solidFill>
              <a:srgbClr val="E3E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7360920" y="1965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vs. GPU inference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7360920" y="2523744"/>
            <a:ext cx="118872" cy="118872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7616952" y="24140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stays flat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7616952" y="2688336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weights load once; footprint doesn't grow with output length.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7360920" y="3493008"/>
            <a:ext cx="118872" cy="118872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7616952" y="33832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is the ongoing cost</a:t>
            </a:r>
            <a:endParaRPr lang="en-US" sz="1250" dirty="0"/>
          </a:p>
        </p:txBody>
      </p:sp>
      <p:sp>
        <p:nvSpPr>
          <p:cNvPr id="41" name="Text 38"/>
          <p:cNvSpPr/>
          <p:nvPr/>
        </p:nvSpPr>
        <p:spPr>
          <a:xfrm>
            <a:off x="7616952" y="36576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generated token needs a full forward pass — compute, not storage.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60920" y="4462272"/>
            <a:ext cx="118872" cy="118872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7616952" y="435254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bandwidth bottleneck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7616952" y="462686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often waits on data movement, not raw compute — usage looks moderate, not maxed.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360920" y="5431536"/>
            <a:ext cx="118872" cy="118872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7616952" y="53218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parallelizes this</a:t>
            </a:r>
            <a:endParaRPr lang="en-US" sz="1250" dirty="0"/>
          </a:p>
        </p:txBody>
      </p:sp>
      <p:sp>
        <p:nvSpPr>
          <p:cNvPr id="47" name="Text 44"/>
          <p:cNvSpPr/>
          <p:nvPr/>
        </p:nvSpPr>
        <p:spPr>
          <a:xfrm>
            <a:off x="7616952" y="55961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can run 10–50x faster — the single biggest lever for responsiveness.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SLMs in Practice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" y="574243"/>
            <a:ext cx="405994" cy="4059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SLM Use Case &amp; Demo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23444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tagging today's inbox with a local SLM and a fixed taxonomy.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icons/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1975104"/>
            <a:ext cx="512064" cy="5120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52374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40080" y="285292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today's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(API)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3054096" y="2500884"/>
            <a:ext cx="429768" cy="256032"/>
          </a:xfrm>
          <a:prstGeom prst="chevron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3520440" y="1828800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ons/micro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1975104"/>
            <a:ext cx="512064" cy="51206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20440" y="252374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611880" y="285292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Qwen2.5-3B via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Ollama, local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025896" y="2500884"/>
            <a:ext cx="429768" cy="256032"/>
          </a:xfrm>
          <a:prstGeom prst="chevron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492240" y="1828800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icons/ta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48" y="1975104"/>
            <a:ext cx="512064" cy="51206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92240" y="252374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583680" y="285292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tag set +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8997696" y="2500884"/>
            <a:ext cx="429768" cy="256032"/>
          </a:xfrm>
          <a:prstGeom prst="chevron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9464040" y="1828800"/>
            <a:ext cx="2468880" cy="1600200"/>
          </a:xfrm>
          <a:prstGeom prst="roundRect">
            <a:avLst>
              <a:gd name="adj" fmla="val 571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2448" y="1975104"/>
            <a:ext cx="512064" cy="51206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464040" y="252374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9555480" y="285292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UI,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+ filter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54864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showed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0"/>
          <p:cNvSpPr/>
          <p:nvPr/>
        </p:nvSpPr>
        <p:spPr>
          <a:xfrm>
            <a:off x="822960" y="4242816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Per-tag descriptions beat a bare tag list — the single biggest accuracy lever, no bigger model needed.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937760"/>
            <a:ext cx="128016" cy="128016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2"/>
          <p:cNvSpPr/>
          <p:nvPr/>
        </p:nvSpPr>
        <p:spPr>
          <a:xfrm>
            <a:off x="822960" y="4809744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“Thinking mode” models trade latency for reasoning depth — a real cost, not always a win for simple classification.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48640" y="5504688"/>
            <a:ext cx="128016" cy="128016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822960" y="5376672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visibility (raw output, parse-success flag) turns silent failures into visible, fixable ones.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SLMs in Practice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1005840"/>
            <a:ext cx="914400" cy="914400"/>
          </a:xfrm>
          <a:prstGeom prst="ellipse">
            <a:avLst/>
          </a:prstGeom>
          <a:solidFill>
            <a:srgbClr val="3FBF9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6148" y="1124712"/>
            <a:ext cx="676656" cy="6766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model. Well-engineered pipeline.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731520" y="324612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693</Words>
  <Application>Microsoft Office PowerPoint</Application>
  <PresentationFormat>Widescreen</PresentationFormat>
  <Paragraphs>139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Nutcha Chanwuttikhun</cp:lastModifiedBy>
  <cp:revision>4</cp:revision>
  <dcterms:created xsi:type="dcterms:W3CDTF">2026-09-05T16:11:57Z</dcterms:created>
  <dcterms:modified xsi:type="dcterms:W3CDTF">2026-09-05T16:45:59Z</dcterms:modified>
</cp:coreProperties>
</file>